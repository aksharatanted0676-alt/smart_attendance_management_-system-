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al Bold" charset="1" panose="020B0704020202020204"/>
      <p:regular r:id="rId12"/>
    </p:embeddedFont>
    <p:embeddedFont>
      <p:font typeface="Helvetica World Bold" charset="1" panose="020B0800040000020004"/>
      <p:regular r:id="rId13"/>
    </p:embeddedFont>
    <p:embeddedFont>
      <p:font typeface="Helvetica World" charset="1" panose="020B0500040000020004"/>
      <p:regular r:id="rId14"/>
    </p:embeddedFont>
    <p:embeddedFont>
      <p:font typeface="Arial" charset="1" panose="020B0604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1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24399" y="1918078"/>
            <a:ext cx="7639564" cy="2367363"/>
            <a:chOff x="0" y="0"/>
            <a:chExt cx="10186086" cy="31564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86035" cy="3156458"/>
            </a:xfrm>
            <a:custGeom>
              <a:avLst/>
              <a:gdLst/>
              <a:ahLst/>
              <a:cxnLst/>
              <a:rect r="r" b="b" t="t" l="l"/>
              <a:pathLst>
                <a:path h="3156458" w="10186035">
                  <a:moveTo>
                    <a:pt x="0" y="0"/>
                  </a:moveTo>
                  <a:lnTo>
                    <a:pt x="10186035" y="0"/>
                  </a:lnTo>
                  <a:lnTo>
                    <a:pt x="10186035" y="3156458"/>
                  </a:lnTo>
                  <a:lnTo>
                    <a:pt x="0" y="315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99" r="0" b="-69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56124" y="5908548"/>
            <a:ext cx="17741884" cy="323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4201"/>
              </a:lnSpc>
            </a:pPr>
            <a:r>
              <a:rPr lang="en-US" b="true" sz="3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Title:  Smart Attendance Management System</a:t>
            </a:r>
            <a:r>
              <a:rPr lang="ar-EG" b="true" sz="3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 </a:t>
            </a:r>
          </a:p>
          <a:p>
            <a:pPr algn="l" rtl="true">
              <a:lnSpc>
                <a:spcPts val="4201"/>
              </a:lnSpc>
            </a:pPr>
            <a:r>
              <a:rPr lang="en-US" b="true" sz="3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Course:  C++ Programming(Semester II)</a:t>
            </a:r>
          </a:p>
          <a:p>
            <a:pPr algn="l" rtl="true">
              <a:lnSpc>
                <a:spcPts val="4201"/>
              </a:lnSpc>
            </a:pPr>
            <a:r>
              <a:rPr lang="en-US" b="true" sz="3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University: ITM Skills University</a:t>
            </a:r>
          </a:p>
          <a:p>
            <a:pPr algn="l" rtl="true">
              <a:lnSpc>
                <a:spcPts val="4201"/>
              </a:lnSpc>
            </a:pPr>
            <a:r>
              <a:rPr lang="en-US" b="true" sz="3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Developed By: Akshara Tanted</a:t>
            </a:r>
          </a:p>
          <a:p>
            <a:pPr algn="l" rtl="true">
              <a:lnSpc>
                <a:spcPts val="4201"/>
              </a:lnSpc>
            </a:pPr>
            <a:r>
              <a:rPr lang="en-US" b="true" sz="3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Objective: To automate the process of recording, managing, and analyzing student</a:t>
            </a:r>
            <a:r>
              <a:rPr lang="ar-EG" b="true" sz="3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 </a:t>
            </a:r>
          </a:p>
          <a:p>
            <a:pPr algn="l" rtl="true">
              <a:lnSpc>
                <a:spcPts val="4201"/>
              </a:lnSpc>
            </a:pPr>
            <a:r>
              <a:rPr lang="ar-EG" b="true" sz="3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                  </a:t>
            </a:r>
            <a:r>
              <a:rPr lang="en-US" b="true" sz="3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attendance efficiently using a digital system</a:t>
            </a:r>
            <a:r>
              <a:rPr lang="ar-EG" b="true" sz="3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.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28483" y="7984436"/>
            <a:ext cx="1836715" cy="1836715"/>
            <a:chOff x="0" y="0"/>
            <a:chExt cx="2448954" cy="24489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8941" cy="2448941"/>
            </a:xfrm>
            <a:custGeom>
              <a:avLst/>
              <a:gdLst/>
              <a:ahLst/>
              <a:cxnLst/>
              <a:rect r="r" b="b" t="t" l="l"/>
              <a:pathLst>
                <a:path h="2448941" w="2448941">
                  <a:moveTo>
                    <a:pt x="0" y="0"/>
                  </a:moveTo>
                  <a:lnTo>
                    <a:pt x="2448941" y="0"/>
                  </a:lnTo>
                  <a:lnTo>
                    <a:pt x="2448941" y="2448941"/>
                  </a:lnTo>
                  <a:lnTo>
                    <a:pt x="0" y="2448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195891" y="336826"/>
            <a:ext cx="7375578" cy="79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100"/>
              </a:lnSpc>
            </a:pPr>
            <a:r>
              <a:rPr lang="en-US" b="true" sz="43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3039" y="1683648"/>
            <a:ext cx="17860070" cy="710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17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many educational institutions, attendance is still recorded manually. This process is time-consuming, prone to human errors, and difficult to manage when the number of students increases. Teachers often face challenges in maintaining records, calculating attendance percentages, and identifying students with low attendance.</a:t>
            </a:r>
            <a:r>
              <a:rPr lang="en-US" sz="317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>
              <a:lnSpc>
                <a:spcPts val="4503"/>
              </a:lnSpc>
            </a:pPr>
            <a:r>
              <a:rPr lang="en-US" sz="317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Manual attendance tracking can cause several problems:</a:t>
            </a:r>
          </a:p>
          <a:p>
            <a:pPr algn="l">
              <a:lnSpc>
                <a:spcPts val="4503"/>
              </a:lnSpc>
            </a:pPr>
            <a:r>
              <a:rPr lang="en-US" sz="317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a. Time-consuming for teachers</a:t>
            </a:r>
          </a:p>
          <a:p>
            <a:pPr algn="l">
              <a:lnSpc>
                <a:spcPts val="4503"/>
              </a:lnSpc>
            </a:pPr>
            <a:r>
              <a:rPr lang="en-US" sz="317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b. Errors in attendance calculation</a:t>
            </a:r>
          </a:p>
          <a:p>
            <a:pPr algn="l">
              <a:lnSpc>
                <a:spcPts val="4503"/>
              </a:lnSpc>
            </a:pPr>
            <a:r>
              <a:rPr lang="en-US" sz="317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c. Difficulty identifying students with low attendance</a:t>
            </a:r>
          </a:p>
          <a:p>
            <a:pPr algn="l">
              <a:lnSpc>
                <a:spcPts val="4503"/>
              </a:lnSpc>
            </a:pPr>
            <a:r>
              <a:rPr lang="en-US" sz="317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Therefore, Educational institutions need an efficient way to manage student attendance </a:t>
            </a:r>
          </a:p>
          <a:p>
            <a:pPr algn="l">
              <a:lnSpc>
                <a:spcPts val="5084"/>
              </a:lnSpc>
            </a:pPr>
            <a:r>
              <a:rPr lang="en-US" sz="3585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Goal:</a:t>
            </a:r>
          </a:p>
          <a:p>
            <a:pPr algn="l">
              <a:lnSpc>
                <a:spcPts val="4503"/>
              </a:lnSpc>
            </a:pPr>
            <a:r>
              <a:rPr lang="en-US" sz="317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Develop a C++ program that records attendance and generates attendance reports automatically.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28483" y="7984436"/>
            <a:ext cx="1836715" cy="1836715"/>
            <a:chOff x="0" y="0"/>
            <a:chExt cx="2448954" cy="24489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8941" cy="2448941"/>
            </a:xfrm>
            <a:custGeom>
              <a:avLst/>
              <a:gdLst/>
              <a:ahLst/>
              <a:cxnLst/>
              <a:rect r="r" b="b" t="t" l="l"/>
              <a:pathLst>
                <a:path h="2448941" w="2448941">
                  <a:moveTo>
                    <a:pt x="0" y="0"/>
                  </a:moveTo>
                  <a:lnTo>
                    <a:pt x="2448941" y="0"/>
                  </a:lnTo>
                  <a:lnTo>
                    <a:pt x="2448941" y="2448941"/>
                  </a:lnTo>
                  <a:lnTo>
                    <a:pt x="0" y="2448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93761" y="408356"/>
            <a:ext cx="16712279" cy="78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4"/>
              </a:lnSpc>
            </a:pPr>
            <a:r>
              <a:rPr lang="en-US" b="true" sz="43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Proposed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3257" y="1055636"/>
            <a:ext cx="18198342" cy="807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6"/>
              </a:lnSpc>
            </a:pPr>
          </a:p>
          <a:p>
            <a:pPr algn="just">
              <a:lnSpc>
                <a:spcPts val="4150"/>
              </a:lnSpc>
            </a:pPr>
            <a:r>
              <a:rPr lang="en-US" sz="292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Smart Attendance Management System</a:t>
            </a:r>
          </a:p>
          <a:p>
            <a:pPr algn="l">
              <a:lnSpc>
                <a:spcPts val="4150"/>
              </a:lnSpc>
            </a:pPr>
            <a:r>
              <a:rPr lang="en-US" sz="292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system performs the following tasks:</a:t>
            </a:r>
          </a:p>
          <a:p>
            <a:pPr algn="l" marL="631992" indent="-315996" lvl="1">
              <a:lnSpc>
                <a:spcPts val="4150"/>
              </a:lnSpc>
              <a:buFont typeface="Arial"/>
              <a:buChar char="•"/>
            </a:pPr>
            <a:r>
              <a:rPr lang="en-US" sz="292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Stores student information</a:t>
            </a:r>
          </a:p>
          <a:p>
            <a:pPr algn="l" marL="631992" indent="-315996" lvl="1">
              <a:lnSpc>
                <a:spcPts val="4150"/>
              </a:lnSpc>
              <a:buFont typeface="Arial"/>
              <a:buChar char="•"/>
            </a:pPr>
            <a:r>
              <a:rPr lang="en-US" sz="292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Stores course details</a:t>
            </a:r>
          </a:p>
          <a:p>
            <a:pPr algn="l" marL="631992" indent="-315996" lvl="1">
              <a:lnSpc>
                <a:spcPts val="4150"/>
              </a:lnSpc>
              <a:buFont typeface="Arial"/>
              <a:buChar char="•"/>
            </a:pPr>
            <a:r>
              <a:rPr lang="en-US" sz="292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Records daily attendance</a:t>
            </a:r>
          </a:p>
          <a:p>
            <a:pPr algn="l" marL="631992" indent="-315996" lvl="1">
              <a:lnSpc>
                <a:spcPts val="4150"/>
              </a:lnSpc>
              <a:buFont typeface="Arial"/>
              <a:buChar char="•"/>
            </a:pPr>
            <a:r>
              <a:rPr lang="en-US" sz="292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Calculates attendance percentage</a:t>
            </a:r>
          </a:p>
          <a:p>
            <a:pPr algn="l" marL="631992" indent="-315996" lvl="1">
              <a:lnSpc>
                <a:spcPts val="4150"/>
              </a:lnSpc>
              <a:buFont typeface="Arial"/>
              <a:buChar char="•"/>
            </a:pPr>
            <a:r>
              <a:rPr lang="en-US" sz="292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Identifies students with low attendance</a:t>
            </a:r>
          </a:p>
          <a:p>
            <a:pPr algn="l" marL="631992" indent="-315996" lvl="1">
              <a:lnSpc>
                <a:spcPts val="4150"/>
              </a:lnSpc>
              <a:buFont typeface="Arial"/>
              <a:buChar char="•"/>
            </a:pPr>
            <a:r>
              <a:rPr lang="en-US" sz="292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Generates attendance reports</a:t>
            </a:r>
          </a:p>
          <a:p>
            <a:pPr algn="l">
              <a:lnSpc>
                <a:spcPts val="4625"/>
              </a:lnSpc>
            </a:pPr>
            <a:r>
              <a:rPr lang="en-US" sz="3262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Key Features:</a:t>
            </a:r>
          </a:p>
          <a:p>
            <a:pPr algn="l" marL="631992" indent="-315996" lvl="1">
              <a:lnSpc>
                <a:spcPts val="4150"/>
              </a:lnSpc>
              <a:buFont typeface="Arial"/>
              <a:buChar char="•"/>
            </a:pPr>
            <a:r>
              <a:rPr lang="en-US" sz="292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Student Registration</a:t>
            </a:r>
          </a:p>
          <a:p>
            <a:pPr algn="l" marL="631992" indent="-315996" lvl="1">
              <a:lnSpc>
                <a:spcPts val="4150"/>
              </a:lnSpc>
              <a:buFont typeface="Arial"/>
              <a:buChar char="•"/>
            </a:pPr>
            <a:r>
              <a:rPr lang="en-US" sz="292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Course Management</a:t>
            </a:r>
          </a:p>
          <a:p>
            <a:pPr algn="l" marL="631992" indent="-315996" lvl="1">
              <a:lnSpc>
                <a:spcPts val="4150"/>
              </a:lnSpc>
              <a:buFont typeface="Arial"/>
              <a:buChar char="•"/>
            </a:pPr>
            <a:r>
              <a:rPr lang="en-US" sz="292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Attendance Recording</a:t>
            </a:r>
          </a:p>
          <a:p>
            <a:pPr algn="l" marL="631992" indent="-315996" lvl="1">
              <a:lnSpc>
                <a:spcPts val="4150"/>
              </a:lnSpc>
              <a:buFont typeface="Arial"/>
              <a:buChar char="•"/>
            </a:pPr>
            <a:r>
              <a:rPr lang="en-US" sz="292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Attendance Analytics</a:t>
            </a:r>
          </a:p>
          <a:p>
            <a:pPr algn="l">
              <a:lnSpc>
                <a:spcPts val="401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28483" y="7984436"/>
            <a:ext cx="1836715" cy="1836715"/>
            <a:chOff x="0" y="0"/>
            <a:chExt cx="2448954" cy="24489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8941" cy="2448941"/>
            </a:xfrm>
            <a:custGeom>
              <a:avLst/>
              <a:gdLst/>
              <a:ahLst/>
              <a:cxnLst/>
              <a:rect r="r" b="b" t="t" l="l"/>
              <a:pathLst>
                <a:path h="2448941" w="2448941">
                  <a:moveTo>
                    <a:pt x="0" y="0"/>
                  </a:moveTo>
                  <a:lnTo>
                    <a:pt x="2448941" y="0"/>
                  </a:lnTo>
                  <a:lnTo>
                    <a:pt x="2448941" y="2448941"/>
                  </a:lnTo>
                  <a:lnTo>
                    <a:pt x="0" y="2448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58197" y="1656750"/>
            <a:ext cx="6107039" cy="812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300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</a:p>
          <a:p>
            <a:pPr algn="ctr" rtl="true">
              <a:lnSpc>
                <a:spcPts val="3300"/>
              </a:lnSpc>
            </a:pPr>
            <a:r>
              <a:rPr lang="ar-EG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↓</a:t>
            </a:r>
          </a:p>
          <a:p>
            <a:pPr algn="ctr" rtl="true">
              <a:lnSpc>
                <a:spcPts val="3300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 Student and Course Data</a:t>
            </a:r>
          </a:p>
          <a:p>
            <a:pPr algn="ctr" rtl="true">
              <a:lnSpc>
                <a:spcPts val="3300"/>
              </a:lnSpc>
            </a:pPr>
            <a:r>
              <a:rPr lang="ar-EG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↓</a:t>
            </a:r>
          </a:p>
          <a:p>
            <a:pPr algn="ctr" rtl="true">
              <a:lnSpc>
                <a:spcPts val="3300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 Menu Options</a:t>
            </a:r>
          </a:p>
          <a:p>
            <a:pPr algn="ctr" rtl="true">
              <a:lnSpc>
                <a:spcPts val="3300"/>
              </a:lnSpc>
            </a:pPr>
            <a:r>
              <a:rPr lang="ar-EG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↓</a:t>
            </a:r>
          </a:p>
          <a:p>
            <a:pPr algn="ctr" rtl="true">
              <a:lnSpc>
                <a:spcPts val="3300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Student / Add Course</a:t>
            </a:r>
          </a:p>
          <a:p>
            <a:pPr algn="ctr" rtl="true">
              <a:lnSpc>
                <a:spcPts val="3300"/>
              </a:lnSpc>
            </a:pPr>
            <a:r>
              <a:rPr lang="ar-EG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↓</a:t>
            </a:r>
          </a:p>
          <a:p>
            <a:pPr algn="ctr" rtl="true">
              <a:lnSpc>
                <a:spcPts val="3300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 Attendance</a:t>
            </a:r>
          </a:p>
          <a:p>
            <a:pPr algn="ctr" rtl="true">
              <a:lnSpc>
                <a:spcPts val="3300"/>
              </a:lnSpc>
            </a:pPr>
            <a:r>
              <a:rPr lang="ar-EG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↓</a:t>
            </a:r>
          </a:p>
          <a:p>
            <a:pPr algn="ctr" rtl="true">
              <a:lnSpc>
                <a:spcPts val="3300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 Attendance Records</a:t>
            </a:r>
          </a:p>
          <a:p>
            <a:pPr algn="ctr" rtl="true">
              <a:lnSpc>
                <a:spcPts val="3300"/>
              </a:lnSpc>
            </a:pPr>
            <a:r>
              <a:rPr lang="ar-EG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↓</a:t>
            </a:r>
          </a:p>
          <a:p>
            <a:pPr algn="ctr" rtl="true">
              <a:lnSpc>
                <a:spcPts val="3300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 Reports</a:t>
            </a:r>
          </a:p>
          <a:p>
            <a:pPr algn="ctr" rtl="true">
              <a:lnSpc>
                <a:spcPts val="3300"/>
              </a:lnSpc>
            </a:pPr>
            <a:r>
              <a:rPr lang="ar-EG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↓</a:t>
            </a:r>
          </a:p>
          <a:p>
            <a:pPr algn="ctr" rtl="true">
              <a:lnSpc>
                <a:spcPts val="3300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Defaulter Students</a:t>
            </a:r>
          </a:p>
          <a:p>
            <a:pPr algn="ctr" rtl="true">
              <a:lnSpc>
                <a:spcPts val="3300"/>
              </a:lnSpc>
            </a:pPr>
            <a:r>
              <a:rPr lang="ar-EG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↓</a:t>
            </a:r>
          </a:p>
          <a:p>
            <a:pPr algn="ctr" rtl="true">
              <a:lnSpc>
                <a:spcPts val="3300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95716" y="178232"/>
            <a:ext cx="14185440" cy="90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998"/>
              </a:lnSpc>
            </a:pPr>
            <a:r>
              <a:rPr lang="en-US" b="true" sz="58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Workflow of system / Method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093000" y="1839601"/>
            <a:ext cx="6591243" cy="2589476"/>
            <a:chOff x="0" y="0"/>
            <a:chExt cx="8788324" cy="34526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88273" cy="3452622"/>
            </a:xfrm>
            <a:custGeom>
              <a:avLst/>
              <a:gdLst/>
              <a:ahLst/>
              <a:cxnLst/>
              <a:rect r="r" b="b" t="t" l="l"/>
              <a:pathLst>
                <a:path h="3452622" w="8788273">
                  <a:moveTo>
                    <a:pt x="0" y="0"/>
                  </a:moveTo>
                  <a:lnTo>
                    <a:pt x="8788273" y="0"/>
                  </a:lnTo>
                  <a:lnTo>
                    <a:pt x="8788273" y="3452622"/>
                  </a:lnTo>
                  <a:lnTo>
                    <a:pt x="0" y="3452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39796" y="4615558"/>
            <a:ext cx="6497641" cy="2519639"/>
            <a:chOff x="0" y="0"/>
            <a:chExt cx="8663521" cy="33595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63559" cy="3359531"/>
            </a:xfrm>
            <a:custGeom>
              <a:avLst/>
              <a:gdLst/>
              <a:ahLst/>
              <a:cxnLst/>
              <a:rect r="r" b="b" t="t" l="l"/>
              <a:pathLst>
                <a:path h="3359531" w="8663559">
                  <a:moveTo>
                    <a:pt x="0" y="0"/>
                  </a:moveTo>
                  <a:lnTo>
                    <a:pt x="8663559" y="0"/>
                  </a:lnTo>
                  <a:lnTo>
                    <a:pt x="8663559" y="3359531"/>
                  </a:lnTo>
                  <a:lnTo>
                    <a:pt x="0" y="3359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t="0" r="-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763795" y="2322357"/>
            <a:ext cx="9070562" cy="5642277"/>
            <a:chOff x="0" y="0"/>
            <a:chExt cx="12094083" cy="75230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94083" cy="7523099"/>
            </a:xfrm>
            <a:custGeom>
              <a:avLst/>
              <a:gdLst/>
              <a:ahLst/>
              <a:cxnLst/>
              <a:rect r="r" b="b" t="t" l="l"/>
              <a:pathLst>
                <a:path h="7523099" w="12094083">
                  <a:moveTo>
                    <a:pt x="0" y="0"/>
                  </a:moveTo>
                  <a:lnTo>
                    <a:pt x="12094083" y="0"/>
                  </a:lnTo>
                  <a:lnTo>
                    <a:pt x="12094083" y="7523099"/>
                  </a:lnTo>
                  <a:lnTo>
                    <a:pt x="0" y="7523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93000" y="7321677"/>
            <a:ext cx="6591243" cy="2146316"/>
            <a:chOff x="0" y="0"/>
            <a:chExt cx="8788324" cy="2861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88273" cy="2861818"/>
            </a:xfrm>
            <a:custGeom>
              <a:avLst/>
              <a:gdLst/>
              <a:ahLst/>
              <a:cxnLst/>
              <a:rect r="r" b="b" t="t" l="l"/>
              <a:pathLst>
                <a:path h="2861818" w="8788273">
                  <a:moveTo>
                    <a:pt x="0" y="0"/>
                  </a:moveTo>
                  <a:lnTo>
                    <a:pt x="8788273" y="0"/>
                  </a:lnTo>
                  <a:lnTo>
                    <a:pt x="8788273" y="2861818"/>
                  </a:lnTo>
                  <a:lnTo>
                    <a:pt x="0" y="2861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2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28483" y="7984436"/>
            <a:ext cx="1836715" cy="1836715"/>
            <a:chOff x="0" y="0"/>
            <a:chExt cx="2448954" cy="24489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8941" cy="2448941"/>
            </a:xfrm>
            <a:custGeom>
              <a:avLst/>
              <a:gdLst/>
              <a:ahLst/>
              <a:cxnLst/>
              <a:rect r="r" b="b" t="t" l="l"/>
              <a:pathLst>
                <a:path h="2448941" w="2448941">
                  <a:moveTo>
                    <a:pt x="0" y="0"/>
                  </a:moveTo>
                  <a:lnTo>
                    <a:pt x="2448941" y="0"/>
                  </a:lnTo>
                  <a:lnTo>
                    <a:pt x="2448941" y="2448941"/>
                  </a:lnTo>
                  <a:lnTo>
                    <a:pt x="0" y="2448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93269" y="658111"/>
            <a:ext cx="15243124" cy="580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6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56524" y="1347313"/>
            <a:ext cx="18867559" cy="7477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4"/>
              </a:lnSpc>
            </a:pPr>
          </a:p>
          <a:p>
            <a:pPr algn="l">
              <a:lnSpc>
                <a:spcPts val="3981"/>
              </a:lnSpc>
            </a:pPr>
            <a:r>
              <a:rPr lang="en-US" sz="32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Outcome</a:t>
            </a:r>
          </a:p>
          <a:p>
            <a:pPr algn="l">
              <a:lnSpc>
                <a:spcPts val="3981"/>
              </a:lnSpc>
            </a:pPr>
            <a:r>
              <a:rPr lang="en-US" sz="32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Successfully developed a Smart Attendance System using C++.</a:t>
            </a:r>
          </a:p>
          <a:p>
            <a:pPr algn="l">
              <a:lnSpc>
                <a:spcPts val="3981"/>
              </a:lnSpc>
            </a:pPr>
            <a:r>
              <a:rPr lang="en-US" sz="32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project demonstrates:</a:t>
            </a:r>
          </a:p>
          <a:p>
            <a:pPr algn="l" marL="705757" indent="-352879" lvl="1">
              <a:lnSpc>
                <a:spcPts val="3981"/>
              </a:lnSpc>
              <a:buFont typeface="Arial"/>
              <a:buChar char="•"/>
            </a:pPr>
            <a:r>
              <a:rPr lang="en-US" sz="32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 Oriented Programming</a:t>
            </a:r>
          </a:p>
          <a:p>
            <a:pPr algn="l" marL="705757" indent="-352879" lvl="1">
              <a:lnSpc>
                <a:spcPts val="3981"/>
              </a:lnSpc>
              <a:buFont typeface="Arial"/>
              <a:buChar char="•"/>
            </a:pPr>
            <a:r>
              <a:rPr lang="en-US" sz="32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Handling</a:t>
            </a:r>
          </a:p>
          <a:p>
            <a:pPr algn="l" marL="705757" indent="-352879" lvl="1">
              <a:lnSpc>
                <a:spcPts val="3981"/>
              </a:lnSpc>
              <a:buFont typeface="Arial"/>
              <a:buChar char="•"/>
            </a:pPr>
            <a:r>
              <a:rPr lang="en-US" sz="32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Menu Driven Programs</a:t>
            </a:r>
          </a:p>
          <a:p>
            <a:pPr algn="l" marL="705757" indent="-352879" lvl="1">
              <a:lnSpc>
                <a:spcPts val="3981"/>
              </a:lnSpc>
              <a:buFont typeface="Arial"/>
              <a:buChar char="•"/>
            </a:pPr>
            <a:r>
              <a:rPr lang="en-US" sz="32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Analysis using attendance records</a:t>
            </a:r>
          </a:p>
          <a:p>
            <a:pPr algn="l">
              <a:lnSpc>
                <a:spcPts val="4265"/>
              </a:lnSpc>
            </a:pPr>
            <a:r>
              <a:rPr lang="en-US" sz="350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Benefits:</a:t>
            </a:r>
          </a:p>
          <a:p>
            <a:pPr algn="l" marL="705757" indent="-352879" lvl="1">
              <a:lnSpc>
                <a:spcPts val="3981"/>
              </a:lnSpc>
              <a:buFont typeface="Arial"/>
              <a:buChar char="•"/>
            </a:pPr>
            <a:r>
              <a:rPr lang="en-US" sz="32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manual work</a:t>
            </a:r>
          </a:p>
          <a:p>
            <a:pPr algn="l" marL="705757" indent="-352879" lvl="1">
              <a:lnSpc>
                <a:spcPts val="3981"/>
              </a:lnSpc>
              <a:buFont typeface="Arial"/>
              <a:buChar char="•"/>
            </a:pPr>
            <a:r>
              <a:rPr lang="en-US" sz="32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Improves accuracy</a:t>
            </a:r>
          </a:p>
          <a:p>
            <a:pPr algn="l" marL="705757" indent="-352879" lvl="1">
              <a:lnSpc>
                <a:spcPts val="3981"/>
              </a:lnSpc>
              <a:buFont typeface="Arial"/>
              <a:buChar char="•"/>
            </a:pPr>
            <a:r>
              <a:rPr lang="en-US" sz="32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identify defaulter students quickly</a:t>
            </a:r>
          </a:p>
          <a:p>
            <a:pPr algn="l" marL="705757" indent="-352879" lvl="1">
              <a:lnSpc>
                <a:spcPts val="3981"/>
              </a:lnSpc>
              <a:buFont typeface="Arial"/>
              <a:buChar char="•"/>
            </a:pPr>
            <a:r>
              <a:rPr lang="en-US" sz="32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structured attendance management</a:t>
            </a:r>
          </a:p>
          <a:p>
            <a:pPr algn="l">
              <a:lnSpc>
                <a:spcPts val="512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807781" y="891890"/>
            <a:ext cx="7521876" cy="674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1"/>
              </a:lnSpc>
              <a:spcBef>
                <a:spcPct val="0"/>
              </a:spcBef>
            </a:pPr>
            <a:r>
              <a:rPr lang="en-US" b="true" sz="4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Conclusion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1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4958" y="5718858"/>
            <a:ext cx="16678437" cy="1397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700"/>
              </a:lnSpc>
            </a:pPr>
            <a:r>
              <a:rPr lang="en-US" b="true" sz="5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324399" y="1884597"/>
            <a:ext cx="7639564" cy="2400843"/>
            <a:chOff x="0" y="0"/>
            <a:chExt cx="10186086" cy="32011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86035" cy="3201162"/>
            </a:xfrm>
            <a:custGeom>
              <a:avLst/>
              <a:gdLst/>
              <a:ahLst/>
              <a:cxnLst/>
              <a:rect r="r" b="b" t="t" l="l"/>
              <a:pathLst>
                <a:path h="3201162" w="10186035">
                  <a:moveTo>
                    <a:pt x="0" y="0"/>
                  </a:moveTo>
                  <a:lnTo>
                    <a:pt x="10186035" y="0"/>
                  </a:lnTo>
                  <a:lnTo>
                    <a:pt x="10186035" y="3201162"/>
                  </a:lnTo>
                  <a:lnTo>
                    <a:pt x="0" y="3201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" t="0" r="-8" b="1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DAHDctJ0L8Q</dc:identifier>
  <dcterms:modified xsi:type="dcterms:W3CDTF">2011-08-01T06:04:30Z</dcterms:modified>
  <cp:revision>1</cp:revision>
  <dc:title>C++ PROJECT.pptx</dc:title>
</cp:coreProperties>
</file>